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AgentGate проверяет предложенное действие агента до исполнения и возвращает allow, deny или ask. Это промежуточный checkpoint: decision core и evaluation tooling реализованы, но реальная интеграция с harness и live validation ещё впереди.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Ценность автономного агента — в способности действовать без постоянного участия человека. Но существующий бинарный выбор заставляет либо проверять каждый шаг, либо отключать контроль. Исследование, процитированное в Product Interim, показывает, что дорогое ручное подтверждение само по себе является слабым детектором и ухудшается по мере сессии. Пользовательских исследований самой команды пока не было.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Система, всегда отвечающая deny, может формально блокировать все атаки, но уничтожает автономность. Аналогично, ask на безопасном действии — это возврат к ручной permission-модели. Поэтому гипотеза проверяется только парой показателей: безопасность на attack cases и friction на benign controls. Текущих процентов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Сервис сам не исполняет команды и физически не может остановить обход harness. Продукт существует только тогда, когда harness вызывает AgentGate перед relevant tool call и применяет ответ. Контракт такого взаимодействия есть, production adapter — ещё нет. Ветка safe continuation пока является требуемым сценарием, а не доказанным end-to-end поведением.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action переводится из сырого tool call в структурное представление: команды, пути, домены и другие аргументы. Stage 1 применяет hard-deny, profile checks и allowlist без обращения к модели. Только если решения нет, вызывается Stage 2. Сессионная логика ограничивает повторяющиеся risky decisions. Fail-closed подтверждён для decision service, но ещё не доказан для всей системы с реальным harness.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разделять component status и product validation. Stage 2 реализована и тестировалась с mock/fake provider, но не проверена live benchmark. Reference hook client принимает payload двух форм harness и вызывает API, но это диагностический мост, а не установленная production integration. Поля reason и suggest существуют, но продолжение агента после отказа не реализовано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сервис принимает одно действие и последний запрос пользователя. В target architecture до и после решения появляются Context Guard, history, tool-result provenance, более богатое session state, отдельная safe recovery и полноценный human loop. Package intelligence сейчас представлена только пустым слотом. Target — направление развития, не обещание к финалу и не описание работающей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Набор включает 70 атакующих кейсов и 5 benign controls. Последних пока мало для устойчивого вывода о false positives: один кейс меняет показатель на 20 percentage points, поэтому любые будущие выводы о friction потребуют осторожности и, желательно, расширения controls. Инструмент валидирует набор, вызывает API, детерминированно оценивает ответы и строит отчёт. Но ни один кейс ещё не прошёл через живой AgentGate с реальной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122 passed относятся только к офлайн-тестам benchmark toolchain. Валидатор подтвердил структуру датасета без ошибок. Stage 1 уложилась в unit latency budget на 200 прогонах, но это не включает сеть, Stage 2, harness и persistence. Reference client и controlled e2e wiring подтверждают контрактный путь, но не production integration. Техническая оговорка: текущий service test run имеет Windows-path failures; целевая среда — Linux container. Пользовательских исследований не проводилось. Ни один компонент сегодня не product-validated.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Production-like adapter должен не просто вызвать API, а перехватить каждый заявленный tool type и применить решение. Отдельно нужно определить поведение системы при недоступности AgentGate: service fail-closed ещё не означает system fail-closed. Первый live benchmark должен сохранить commit, profile, model и run metadata, после чего failures разбираются на dataset error, known v1 limitation и service miss. Метрики публикуются только после этого. Минимальная пользовательская проверка нужна, потому что сегодня реальных наблюдений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Архитектурные и продуктовые решения команда обсуждает совместно, но implementation ownership разделён: Александр владеет decision service и deployment, Алексей — interception и harness integration, Тимур — benchmark, evaluation и project artifacts. Все участники активно вовлечены. Завершаем не обещанием готового продукта, а конкретным направлением следующего доказательства.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· INTERMEDIATE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923"/>
              </a:lnSpc>
              <a:buNone/>
            </a:pPr>
            <a:r>
              <a:rPr lang="en-US" sz="11250" b="1" spc="-450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AgentGate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952500" y="3219450"/>
            <a:ext cx="18021300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spc="-39" kern="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autonomy for AI coding agents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4235450"/>
            <a:ext cx="5050830" cy="584200"/>
          </a:xfrm>
          <a:prstGeom prst="roundRect">
            <a:avLst>
              <a:gd name="adj" fmla="val 6522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174750" y="4362450"/>
            <a:ext cx="475785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7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Intermediate / Work in Progress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8763000"/>
            <a:ext cx="143510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0000" y="8966200"/>
            <a:ext cx="87630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2578100" y="9136856"/>
            <a:ext cx="609600" cy="14288"/>
          </a:xfrm>
          <a:prstGeom prst="rect">
            <a:avLst/>
          </a:prstGeom>
          <a:solidFill>
            <a:srgbClr val="C3C4BF"/>
          </a:solidFill>
          <a:ln/>
        </p:spPr>
      </p:sp>
      <p:sp>
        <p:nvSpPr>
          <p:cNvPr id="10" name="Shape 8"/>
          <p:cNvSpPr/>
          <p:nvPr/>
        </p:nvSpPr>
        <p:spPr>
          <a:xfrm>
            <a:off x="3378200" y="8775700"/>
            <a:ext cx="2049859" cy="736600"/>
          </a:xfrm>
          <a:prstGeom prst="roundRect">
            <a:avLst>
              <a:gd name="adj" fmla="val 5172"/>
            </a:avLst>
          </a:prstGeom>
          <a:solidFill>
            <a:srgbClr val="1B7F92"/>
          </a:solidFill>
          <a:ln/>
        </p:spPr>
      </p:sp>
      <p:sp>
        <p:nvSpPr>
          <p:cNvPr id="11" name="Text 9"/>
          <p:cNvSpPr/>
          <p:nvPr/>
        </p:nvSpPr>
        <p:spPr>
          <a:xfrm>
            <a:off x="3683000" y="8966200"/>
            <a:ext cx="1516459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AgentGate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618559" y="9136856"/>
            <a:ext cx="609600" cy="14288"/>
          </a:xfrm>
          <a:prstGeom prst="rect">
            <a:avLst/>
          </a:prstGeom>
          <a:solidFill>
            <a:srgbClr val="C3C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18659" y="8763000"/>
            <a:ext cx="159514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6159" y="8966200"/>
            <a:ext cx="103634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695389" y="8229600"/>
            <a:ext cx="264011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 Иванов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695389" y="8693150"/>
            <a:ext cx="264011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Алексей Балашов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695389" y="9156700"/>
            <a:ext cx="264011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Тимур Полищук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Автономность против контроля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49760"/>
            <a:ext cx="6381750" cy="5252740"/>
          </a:xfrm>
          <a:prstGeom prst="roundRect">
            <a:avLst>
              <a:gd name="adj" fmla="val 1088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84300" y="3949005"/>
            <a:ext cx="6069965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подтверждений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84300" y="4660206"/>
            <a:ext cx="568369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D7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confirmations ↑ → friction ↑ → autonomy ↓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715250" y="2049760"/>
            <a:ext cx="2857500" cy="5252740"/>
          </a:xfrm>
          <a:prstGeom prst="roundRect">
            <a:avLst>
              <a:gd name="adj" fmla="val 2000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837805" y="4077990"/>
            <a:ext cx="2612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18450" y="4554240"/>
            <a:ext cx="2451100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risk-aware decision layer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953750" y="2049760"/>
            <a:ext cx="6381750" cy="5252740"/>
          </a:xfrm>
          <a:prstGeom prst="roundRect">
            <a:avLst>
              <a:gd name="adj" fmla="val 1088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85550" y="3949005"/>
            <a:ext cx="6069965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подтверждений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1385550" y="4660206"/>
            <a:ext cx="568369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950" dirty="0">
                <a:solidFill>
                  <a:srgbClr val="6D7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confirmations ↓ → autonomy ↑ → uncontrolled risk ↑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7797800"/>
            <a:ext cx="16383000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8572500"/>
            <a:ext cx="9613207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3000" b="1" spc="-30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контроль регулирует усилие человека, а не реальный риск действия.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209382" y="8153400"/>
            <a:ext cx="71261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1 053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09382" y="8534400"/>
            <a:ext cx="71261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93% показанных prompts были одобрены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62862" y="8915400"/>
            <a:ext cx="667263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явно опасную подменённую команду заблокировали только в 13,6% случаев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≠ maximum blocking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 rot="10800000">
            <a:off x="962025" y="2197993"/>
            <a:ext cx="381000" cy="412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unsafe action pass-through →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66850" y="2011660"/>
            <a:ext cx="3295650" cy="1933575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5850" y="2011660"/>
            <a:ext cx="3295650" cy="1933575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6850" y="4078585"/>
            <a:ext cx="3295650" cy="1933575"/>
          </a:xfrm>
          <a:prstGeom prst="roundRect">
            <a:avLst>
              <a:gd name="adj" fmla="val 1970"/>
            </a:avLst>
          </a:prstGeom>
          <a:solidFill>
            <a:srgbClr val="EAF8FB"/>
          </a:solidFill>
          <a:ln w="12700">
            <a:solidFill>
              <a:srgbClr val="68ABB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746250" y="4648299"/>
            <a:ext cx="301053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60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zone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46250" y="5092800"/>
            <a:ext cx="28189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1800" dirty="0">
                <a:solidFill>
                  <a:srgbClr val="376C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be measured in live benchmark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95850" y="4078585"/>
            <a:ext cx="3295650" cy="1933575"/>
          </a:xfrm>
          <a:prstGeom prst="roundRect">
            <a:avLst>
              <a:gd name="adj" fmla="val 1970"/>
            </a:avLst>
          </a:prstGeom>
          <a:solidFill>
            <a:srgbClr val="FFFFFF"/>
          </a:solidFill>
          <a:ln w="12700">
            <a:solidFill>
              <a:srgbClr val="E2E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6850" y="6164560"/>
            <a:ext cx="7397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intervention on benign work 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53500" y="2011660"/>
            <a:ext cx="863346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3000" b="1" spc="-30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ли снизить количество решений, требующих человека, не увеличив долю пропущенных атак?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953500" y="3783310"/>
            <a:ext cx="19050" cy="1111250"/>
          </a:xfrm>
          <a:prstGeom prst="rect">
            <a:avLst/>
          </a:prstGeom>
          <a:solidFill>
            <a:srgbClr val="1B7F92"/>
          </a:solidFill>
          <a:ln/>
        </p:spPr>
      </p:sp>
      <p:sp>
        <p:nvSpPr>
          <p:cNvPr id="13" name="Text 11"/>
          <p:cNvSpPr/>
          <p:nvPr/>
        </p:nvSpPr>
        <p:spPr>
          <a:xfrm>
            <a:off x="9201150" y="3783310"/>
            <a:ext cx="89477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201150" y="4189710"/>
            <a:ext cx="89477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D7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unsafe action pass-through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01150" y="4551660"/>
            <a:ext cx="89477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атак получили allow?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953500" y="5085061"/>
            <a:ext cx="19050" cy="1454150"/>
          </a:xfrm>
          <a:prstGeom prst="rect">
            <a:avLst/>
          </a:prstGeom>
          <a:solidFill>
            <a:srgbClr val="C78B28"/>
          </a:solidFill>
          <a:ln/>
        </p:spPr>
      </p:sp>
      <p:sp>
        <p:nvSpPr>
          <p:cNvPr id="17" name="Text 15"/>
          <p:cNvSpPr/>
          <p:nvPr/>
        </p:nvSpPr>
        <p:spPr>
          <a:xfrm>
            <a:off x="9201150" y="5085061"/>
            <a:ext cx="894778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01150" y="5491460"/>
            <a:ext cx="89477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D7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 deny + benign ask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01150" y="5853410"/>
            <a:ext cx="837838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легитимных действий были остановлены или отданы человеку?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953500" y="6882110"/>
            <a:ext cx="92202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на benign action = friction, а не success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8953500" y="7364710"/>
            <a:ext cx="3835400" cy="558800"/>
          </a:xfrm>
          <a:prstGeom prst="roundRect">
            <a:avLst>
              <a:gd name="adj" fmla="val 6818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156700" y="7491710"/>
            <a:ext cx="354406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measurement: pending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layer between the agent and execution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3996630"/>
            <a:ext cx="2329755" cy="8128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2850" y="4218880"/>
            <a:ext cx="1885256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15605" y="4218881"/>
            <a:ext cx="30638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779143" y="3812481"/>
            <a:ext cx="2186682" cy="11811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39493" y="4034731"/>
            <a:ext cx="1742182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/ Harness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99175" y="4218881"/>
            <a:ext cx="30638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62713" y="3850581"/>
            <a:ext cx="3370064" cy="1104900"/>
          </a:xfrm>
          <a:prstGeom prst="roundRect">
            <a:avLst>
              <a:gd name="adj" fmla="val 3448"/>
            </a:avLst>
          </a:prstGeom>
          <a:solidFill>
            <a:srgbClr val="FFF4DB"/>
          </a:solidFill>
          <a:ln w="12700">
            <a:solidFill>
              <a:srgbClr val="E1B6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3063" y="4072830"/>
            <a:ext cx="2007890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54B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Pre-execution interception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629327" y="3710880"/>
            <a:ext cx="2286000" cy="381000"/>
          </a:xfrm>
          <a:prstGeom prst="roundRect">
            <a:avLst>
              <a:gd name="adj" fmla="val 7500"/>
            </a:avLst>
          </a:prstGeom>
          <a:solidFill>
            <a:srgbClr val="C78B28"/>
          </a:solidFill>
          <a:ln/>
        </p:spPr>
      </p:sp>
      <p:sp>
        <p:nvSpPr>
          <p:cNvPr id="12" name="Text 10"/>
          <p:cNvSpPr/>
          <p:nvPr/>
        </p:nvSpPr>
        <p:spPr>
          <a:xfrm>
            <a:off x="7743627" y="3748980"/>
            <a:ext cx="2133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1C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gap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127" y="4218881"/>
            <a:ext cx="30638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329665" y="3987105"/>
            <a:ext cx="2196108" cy="831850"/>
          </a:xfrm>
          <a:prstGeom prst="roundRect">
            <a:avLst>
              <a:gd name="adj" fmla="val 4580"/>
            </a:avLst>
          </a:prstGeom>
          <a:solidFill>
            <a:srgbClr val="1B7F92"/>
          </a:solidFill>
          <a:ln/>
        </p:spPr>
      </p:sp>
      <p:sp>
        <p:nvSpPr>
          <p:cNvPr id="15" name="Text 13"/>
          <p:cNvSpPr/>
          <p:nvPr/>
        </p:nvSpPr>
        <p:spPr>
          <a:xfrm>
            <a:off x="10653515" y="4215705"/>
            <a:ext cx="1624608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AgentGate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659123" y="4218881"/>
            <a:ext cx="30638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022660" y="3850581"/>
            <a:ext cx="2493367" cy="1104900"/>
          </a:xfrm>
          <a:prstGeom prst="roundRect">
            <a:avLst>
              <a:gd name="adj" fmla="val 3448"/>
            </a:avLst>
          </a:prstGeom>
          <a:solidFill>
            <a:srgbClr val="EAF8FB"/>
          </a:solidFill>
          <a:ln w="12700">
            <a:solidFill>
              <a:srgbClr val="87CB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83010" y="4072831"/>
            <a:ext cx="2048867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/ deny / ask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5649377" y="4218881"/>
            <a:ext cx="306388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6012914" y="3996630"/>
            <a:ext cx="1322586" cy="8128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3264" y="4218880"/>
            <a:ext cx="878086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" y="5526981"/>
            <a:ext cx="8001000" cy="1435100"/>
          </a:xfrm>
          <a:prstGeom prst="roundRect">
            <a:avLst>
              <a:gd name="adj" fmla="val 3982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308100" y="5844480"/>
            <a:ext cx="80187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ОБРАТНАЯ ВЕТКА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08100" y="6263580"/>
            <a:ext cx="8018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1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 → reason + safe alternative → Agent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334500" y="5526981"/>
            <a:ext cx="8001000" cy="1435100"/>
          </a:xfrm>
          <a:prstGeom prst="roundRect">
            <a:avLst>
              <a:gd name="adj" fmla="val 3982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690100" y="5844480"/>
            <a:ext cx="80187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ВЕТКА ЧЕЛОВЕКА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90100" y="6263580"/>
            <a:ext cx="8018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1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→ Human decision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2500" y="92202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 product approach — не схема текущей готовности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deterministic work first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1973560"/>
            <a:ext cx="274955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2850" y="2138660"/>
            <a:ext cx="231133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action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00150" y="2729210"/>
            <a:ext cx="113823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3135610"/>
            <a:ext cx="408692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2850" y="3300710"/>
            <a:ext cx="368882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normalization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00150" y="3891260"/>
            <a:ext cx="113823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4297660"/>
            <a:ext cx="10572750" cy="793750"/>
          </a:xfrm>
          <a:prstGeom prst="roundRect">
            <a:avLst>
              <a:gd name="adj" fmla="val 4800"/>
            </a:avLst>
          </a:prstGeom>
          <a:solidFill>
            <a:srgbClr val="1B7F92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4507210"/>
            <a:ext cx="3781723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deterministic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904780" y="4570710"/>
            <a:ext cx="4526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 · deterministic · no LLM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0150" y="5186660"/>
            <a:ext cx="238423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14773" y="5189836"/>
            <a:ext cx="22631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unresolved only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5593060"/>
            <a:ext cx="2714724" cy="755650"/>
          </a:xfrm>
          <a:prstGeom prst="roundRect">
            <a:avLst>
              <a:gd name="adj" fmla="val 5042"/>
            </a:avLst>
          </a:prstGeom>
          <a:solidFill>
            <a:srgbClr val="EAF8FB"/>
          </a:solidFill>
          <a:ln w="12700">
            <a:solidFill>
              <a:srgbClr val="87CB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0950" y="5796260"/>
            <a:ext cx="219926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5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LLM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00150" y="6443960"/>
            <a:ext cx="113823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6850360"/>
            <a:ext cx="3195340" cy="6604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2850" y="7015460"/>
            <a:ext cx="27705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escalation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00150" y="7606010"/>
            <a:ext cx="11382375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9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8012410"/>
            <a:ext cx="369570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719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7300" y="8202910"/>
            <a:ext cx="31969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/ DENY / ASK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4838700" y="8387060"/>
            <a:ext cx="571500" cy="12700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23" name="Shape 21"/>
          <p:cNvSpPr/>
          <p:nvPr/>
        </p:nvSpPr>
        <p:spPr>
          <a:xfrm>
            <a:off x="5600700" y="8094961"/>
            <a:ext cx="3050580" cy="596900"/>
          </a:xfrm>
          <a:prstGeom prst="roundRect">
            <a:avLst>
              <a:gd name="adj" fmla="val 6383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822950" y="8241011"/>
            <a:ext cx="26975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· append-only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382500" y="2164060"/>
            <a:ext cx="4953000" cy="19050"/>
          </a:xfrm>
          <a:prstGeom prst="rect">
            <a:avLst/>
          </a:prstGeom>
          <a:solidFill>
            <a:srgbClr val="17191A"/>
          </a:solidFill>
          <a:ln/>
        </p:spPr>
      </p:sp>
      <p:sp>
        <p:nvSpPr>
          <p:cNvPr id="26" name="Text 24"/>
          <p:cNvSpPr/>
          <p:nvPr/>
        </p:nvSpPr>
        <p:spPr>
          <a:xfrm>
            <a:off x="12382500" y="2392660"/>
            <a:ext cx="510159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24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оценивают структуру действия, а не reasoning агента.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2382500" y="3489821"/>
            <a:ext cx="4953000" cy="19050"/>
          </a:xfrm>
          <a:prstGeom prst="rect">
            <a:avLst/>
          </a:prstGeom>
          <a:solidFill>
            <a:srgbClr val="17191A"/>
          </a:solidFill>
          <a:ln/>
        </p:spPr>
      </p:sp>
      <p:sp>
        <p:nvSpPr>
          <p:cNvPr id="28" name="Text 26"/>
          <p:cNvSpPr/>
          <p:nvPr/>
        </p:nvSpPr>
        <p:spPr>
          <a:xfrm>
            <a:off x="12382500" y="3718421"/>
            <a:ext cx="510159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24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получает только нерешённый остаток.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2382500" y="4815582"/>
            <a:ext cx="4953000" cy="19050"/>
          </a:xfrm>
          <a:prstGeom prst="rect">
            <a:avLst/>
          </a:prstGeom>
          <a:solidFill>
            <a:srgbClr val="C78B28"/>
          </a:solidFill>
          <a:ln/>
        </p:spPr>
      </p:sp>
      <p:sp>
        <p:nvSpPr>
          <p:cNvPr id="30" name="Text 28"/>
          <p:cNvSpPr/>
          <p:nvPr/>
        </p:nvSpPr>
        <p:spPr>
          <a:xfrm>
            <a:off x="12382500" y="5044182"/>
            <a:ext cx="510159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24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или неопределённость → ask, не allow.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core, missing real harness enforcement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9677400"/>
            <a:ext cx="4677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Intermediate / Work in Progress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973560"/>
            <a:ext cx="5283200" cy="5494040"/>
          </a:xfrm>
          <a:prstGeom prst="roundRect">
            <a:avLst>
              <a:gd name="adj" fmla="val 1082"/>
            </a:avLst>
          </a:prstGeom>
          <a:solidFill>
            <a:srgbClr val="1B7F92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2316460"/>
            <a:ext cx="50990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 + Tested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76350" y="2856210"/>
            <a:ext cx="50990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API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76350" y="3322935"/>
            <a:ext cx="50990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normalization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76350" y="3789660"/>
            <a:ext cx="50990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Stage 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76350" y="4256385"/>
            <a:ext cx="50990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Stage 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76350" y="4723110"/>
            <a:ext cx="50990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escalation + allow cache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76350" y="5189836"/>
            <a:ext cx="50990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/ persistence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6350" y="5656561"/>
            <a:ext cx="50990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toolchain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502400" y="1973560"/>
            <a:ext cx="5283200" cy="5494040"/>
          </a:xfrm>
          <a:prstGeom prst="roundRect">
            <a:avLst>
              <a:gd name="adj" fmla="val 1082"/>
            </a:avLst>
          </a:prstGeom>
          <a:solidFill>
            <a:srgbClr val="FFF4DB"/>
          </a:solidFill>
          <a:ln w="12700">
            <a:solidFill>
              <a:srgbClr val="E1B6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8950" y="2329160"/>
            <a:ext cx="50711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8A5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38950" y="286891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533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contract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38950" y="3335635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533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hook client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838950" y="380236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533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response: reason + suggest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052300" y="1973560"/>
            <a:ext cx="5283200" cy="5494040"/>
          </a:xfrm>
          <a:prstGeom prst="roundRect">
            <a:avLst>
              <a:gd name="adj" fmla="val 1082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2388851" y="2329160"/>
            <a:ext cx="50711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/ Not yet validated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388851" y="286891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harness adapter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388851" y="3335635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ask flow and enforcement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388851" y="380236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→ safe continuation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388851" y="4269085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benchmark and product metrics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52500" y="7886700"/>
            <a:ext cx="16383000" cy="1638300"/>
          </a:xfrm>
          <a:prstGeom prst="roundRect">
            <a:avLst>
              <a:gd name="adj" fmla="val 3488"/>
            </a:avLst>
          </a:prstGeom>
          <a:solidFill>
            <a:srgbClr val="17191A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8267700"/>
            <a:ext cx="17099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76C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INTEGRATION GAP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8686800"/>
            <a:ext cx="170992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3000" b="1" spc="-30" kern="0" dirty="0">
                <a:solidFill>
                  <a:srgbClr val="F6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AgentGate возвращает решение, но реальный harness ещё не доказал его применение.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MVP ≠ Target architecture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9677400"/>
            <a:ext cx="4677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Intermediate / Work in Progress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2193231"/>
            <a:ext cx="75018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MVP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656781"/>
            <a:ext cx="6819900" cy="698500"/>
          </a:xfrm>
          <a:prstGeom prst="roundRect">
            <a:avLst>
              <a:gd name="adj" fmla="val 5455"/>
            </a:avLst>
          </a:prstGeom>
          <a:solidFill>
            <a:srgbClr val="FFF4DB"/>
          </a:solidFill>
          <a:ln w="12700">
            <a:solidFill>
              <a:srgbClr val="E1B6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3800" y="2821881"/>
            <a:ext cx="53013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33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Interception contract + reference client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165652" y="2853630"/>
            <a:ext cx="10363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5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488631"/>
            <a:ext cx="6819900" cy="673100"/>
          </a:xfrm>
          <a:prstGeom prst="roundRect">
            <a:avLst>
              <a:gd name="adj" fmla="val 5660"/>
            </a:avLst>
          </a:prstGeom>
          <a:solidFill>
            <a:srgbClr val="1B7F92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3641031"/>
            <a:ext cx="65672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Service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4295081"/>
            <a:ext cx="6819900" cy="673100"/>
          </a:xfrm>
          <a:prstGeom prst="roundRect">
            <a:avLst>
              <a:gd name="adj" fmla="val 5660"/>
            </a:avLst>
          </a:prstGeom>
          <a:solidFill>
            <a:srgbClr val="1B7F92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4447481"/>
            <a:ext cx="65672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normalization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5101530"/>
            <a:ext cx="6819900" cy="673100"/>
          </a:xfrm>
          <a:prstGeom prst="roundRect">
            <a:avLst>
              <a:gd name="adj" fmla="val 5660"/>
            </a:avLst>
          </a:prstGeom>
          <a:solidFill>
            <a:srgbClr val="1B7F92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5253930"/>
            <a:ext cx="65672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+ Stage 2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" y="5907981"/>
            <a:ext cx="6819900" cy="673100"/>
          </a:xfrm>
          <a:prstGeom prst="roundRect">
            <a:avLst>
              <a:gd name="adj" fmla="val 5660"/>
            </a:avLst>
          </a:prstGeom>
          <a:solidFill>
            <a:srgbClr val="1B7F92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" y="6060381"/>
            <a:ext cx="65672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counters + allow cache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6714431"/>
            <a:ext cx="6819900" cy="673100"/>
          </a:xfrm>
          <a:prstGeom prst="roundRect">
            <a:avLst>
              <a:gd name="adj" fmla="val 5660"/>
            </a:avLst>
          </a:prstGeom>
          <a:solidFill>
            <a:srgbClr val="1B7F92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6866831"/>
            <a:ext cx="65672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" y="7520880"/>
            <a:ext cx="6819900" cy="673100"/>
          </a:xfrm>
          <a:prstGeom prst="roundRect">
            <a:avLst>
              <a:gd name="adj" fmla="val 5660"/>
            </a:avLst>
          </a:prstGeom>
          <a:solidFill>
            <a:srgbClr val="1B7F92"/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" y="7673280"/>
            <a:ext cx="65672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toolchain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51441" y="4790281"/>
            <a:ext cx="158502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927"/>
              </a:lnSpc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+ iteration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01000" y="5582642"/>
            <a:ext cx="2044601" cy="14288"/>
          </a:xfrm>
          <a:prstGeom prst="rect">
            <a:avLst/>
          </a:prstGeom>
          <a:solidFill>
            <a:srgbClr val="B9BAB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2532956"/>
            <a:ext cx="75018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/ Later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515600" y="2996505"/>
            <a:ext cx="6819900" cy="698500"/>
          </a:xfrm>
          <a:prstGeom prst="roundRect">
            <a:avLst>
              <a:gd name="adj" fmla="val 5455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0756900" y="3161605"/>
            <a:ext cx="65418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Guard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515600" y="3828356"/>
            <a:ext cx="6819900" cy="698500"/>
          </a:xfrm>
          <a:prstGeom prst="roundRect">
            <a:avLst>
              <a:gd name="adj" fmla="val 5455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0756900" y="3993456"/>
            <a:ext cx="65418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history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515600" y="4660206"/>
            <a:ext cx="6819900" cy="698500"/>
          </a:xfrm>
          <a:prstGeom prst="roundRect">
            <a:avLst>
              <a:gd name="adj" fmla="val 5455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0756900" y="4825306"/>
            <a:ext cx="65418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Tool-result provenance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0515600" y="5492055"/>
            <a:ext cx="6819900" cy="698500"/>
          </a:xfrm>
          <a:prstGeom prst="roundRect">
            <a:avLst>
              <a:gd name="adj" fmla="val 5455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0756900" y="5657155"/>
            <a:ext cx="65418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session risk state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0515600" y="6323906"/>
            <a:ext cx="6819900" cy="698500"/>
          </a:xfrm>
          <a:prstGeom prst="roundRect">
            <a:avLst>
              <a:gd name="adj" fmla="val 5455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0756900" y="6489006"/>
            <a:ext cx="65418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safe recovery + human loop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0515600" y="7155756"/>
            <a:ext cx="6819900" cy="698500"/>
          </a:xfrm>
          <a:prstGeom prst="roundRect">
            <a:avLst>
              <a:gd name="adj" fmla="val 5455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0756900" y="7320856"/>
            <a:ext cx="6541897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intelligence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52500" y="8832850"/>
            <a:ext cx="16383000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36" name="Text 34"/>
          <p:cNvSpPr/>
          <p:nvPr/>
        </p:nvSpPr>
        <p:spPr>
          <a:xfrm>
            <a:off x="952500" y="9150350"/>
            <a:ext cx="1687449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сознательно разделяем то, что существует сейчас, и то, что относится к target architecture.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safety and friction together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9677400"/>
            <a:ext cx="4677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Intermediate / Work in Progress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935460"/>
            <a:ext cx="5308600" cy="1381720"/>
          </a:xfrm>
          <a:prstGeom prst="roundRect">
            <a:avLst>
              <a:gd name="adj" fmla="val 4136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0000" y="2214860"/>
            <a:ext cx="1020167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72"/>
              </a:lnSpc>
              <a:buNone/>
            </a:pPr>
            <a:r>
              <a:rPr lang="en-US" sz="7200" b="1" spc="-288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404467" y="2633960"/>
            <a:ext cx="859234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489700" y="1935460"/>
            <a:ext cx="5308600" cy="1381720"/>
          </a:xfrm>
          <a:prstGeom prst="roundRect">
            <a:avLst>
              <a:gd name="adj" fmla="val 4136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07200" y="2214860"/>
            <a:ext cx="1020167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72"/>
              </a:lnSpc>
              <a:buNone/>
            </a:pPr>
            <a:r>
              <a:rPr lang="en-US" sz="7200" b="1" spc="-288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941668" y="2633960"/>
            <a:ext cx="1558419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26901" y="1935460"/>
            <a:ext cx="5308600" cy="1381720"/>
          </a:xfrm>
          <a:prstGeom prst="roundRect">
            <a:avLst>
              <a:gd name="adj" fmla="val 4136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0" y="2214860"/>
            <a:ext cx="54818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72"/>
              </a:lnSpc>
              <a:buNone/>
            </a:pPr>
            <a:r>
              <a:rPr lang="en-US" sz="7200" b="1" spc="-288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3006884" y="2633960"/>
            <a:ext cx="2156291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levels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3698181"/>
            <a:ext cx="8077200" cy="3401120"/>
          </a:xfrm>
          <a:prstGeom prst="roundRect">
            <a:avLst>
              <a:gd name="adj" fmla="val 1680"/>
            </a:avLst>
          </a:prstGeom>
          <a:solidFill>
            <a:srgbClr val="1B7F92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350" y="4034730"/>
            <a:ext cx="190068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cases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156645" y="4002981"/>
            <a:ext cx="4420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76350" y="4574481"/>
            <a:ext cx="81724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pass-through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76350" y="4999931"/>
            <a:ext cx="81724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failures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58300" y="3698181"/>
            <a:ext cx="8077200" cy="3401120"/>
          </a:xfrm>
          <a:prstGeom prst="roundRect">
            <a:avLst>
              <a:gd name="adj" fmla="val 1680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94850" y="4047431"/>
            <a:ext cx="23111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controls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48307" y="4015680"/>
            <a:ext cx="2591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94850" y="4587180"/>
            <a:ext cx="81445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7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 deny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594850" y="5012631"/>
            <a:ext cx="81445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7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 ask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94850" y="5438081"/>
            <a:ext cx="81445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D7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rate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2500" y="7480300"/>
            <a:ext cx="16383000" cy="749300"/>
          </a:xfrm>
          <a:prstGeom prst="roundRect">
            <a:avLst>
              <a:gd name="adj" fmla="val 7627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250950" y="7702550"/>
            <a:ext cx="47455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— planned live outputs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869881" y="7702550"/>
            <a:ext cx="79965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+ stage distribution · cost, where measurable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2500" y="8610600"/>
            <a:ext cx="8077200" cy="914400"/>
          </a:xfrm>
          <a:prstGeom prst="roundRect">
            <a:avLst>
              <a:gd name="adj" fmla="val 6250"/>
            </a:avLst>
          </a:prstGeom>
          <a:solidFill>
            <a:srgbClr val="17191A"/>
          </a:solidFill>
          <a:ln/>
        </p:spPr>
      </p:sp>
      <p:sp>
        <p:nvSpPr>
          <p:cNvPr id="28" name="Text 26"/>
          <p:cNvSpPr/>
          <p:nvPr/>
        </p:nvSpPr>
        <p:spPr>
          <a:xfrm>
            <a:off x="1257300" y="8858250"/>
            <a:ext cx="77099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6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tool: IMPLEMENTED + TESTED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258300" y="8610600"/>
            <a:ext cx="8077200" cy="914400"/>
          </a:xfrm>
          <a:prstGeom prst="roundRect">
            <a:avLst>
              <a:gd name="adj" fmla="val 6250"/>
            </a:avLst>
          </a:prstGeom>
          <a:ln w="19050">
            <a:solidFill>
              <a:srgbClr val="C78B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82150" y="8877300"/>
            <a:ext cx="76718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45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AgentGate benchmark: NOT RUN YET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evidence so far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9677400"/>
            <a:ext cx="4677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Intermediate / Work in Progress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2011660"/>
            <a:ext cx="1046069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Можно подтвердить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532360"/>
            <a:ext cx="9509721" cy="7747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29436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53236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532360"/>
            <a:ext cx="25400" cy="774700"/>
          </a:xfrm>
          <a:prstGeom prst="rect">
            <a:avLst/>
          </a:prstGeom>
          <a:solidFill>
            <a:srgbClr val="1B7F92"/>
          </a:solidFill>
          <a:ln/>
        </p:spPr>
      </p:sp>
      <p:sp>
        <p:nvSpPr>
          <p:cNvPr id="9" name="Shape 7"/>
          <p:cNvSpPr/>
          <p:nvPr/>
        </p:nvSpPr>
        <p:spPr>
          <a:xfrm>
            <a:off x="10449521" y="2532360"/>
            <a:ext cx="12700" cy="774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10" name="Text 8"/>
          <p:cNvSpPr/>
          <p:nvPr/>
        </p:nvSpPr>
        <p:spPr>
          <a:xfrm>
            <a:off x="1225550" y="2735560"/>
            <a:ext cx="926161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pipeline implemented + tested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3497560"/>
            <a:ext cx="9509721" cy="8318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431671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349756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3497560"/>
            <a:ext cx="25400" cy="831850"/>
          </a:xfrm>
          <a:prstGeom prst="rect">
            <a:avLst/>
          </a:prstGeom>
          <a:solidFill>
            <a:srgbClr val="1B7F9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49521" y="3497560"/>
            <a:ext cx="12700" cy="83185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16" name="Text 14"/>
          <p:cNvSpPr/>
          <p:nvPr/>
        </p:nvSpPr>
        <p:spPr>
          <a:xfrm>
            <a:off x="1225550" y="3745210"/>
            <a:ext cx="3206224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offline tests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292699" y="3700760"/>
            <a:ext cx="2137410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 passed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52500" y="4519910"/>
            <a:ext cx="9509721" cy="8318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500" y="533906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500" y="451991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4519910"/>
            <a:ext cx="25400" cy="831850"/>
          </a:xfrm>
          <a:prstGeom prst="rect">
            <a:avLst/>
          </a:prstGeom>
          <a:solidFill>
            <a:srgbClr val="1B7F9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49521" y="4519910"/>
            <a:ext cx="12700" cy="83185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23" name="Text 21"/>
          <p:cNvSpPr/>
          <p:nvPr/>
        </p:nvSpPr>
        <p:spPr>
          <a:xfrm>
            <a:off x="1225550" y="4767560"/>
            <a:ext cx="2452936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validation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3607891" y="4723110"/>
            <a:ext cx="4702324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/ 15 / 5 · 0 errors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52500" y="5542261"/>
            <a:ext cx="9509721" cy="121285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52500" y="6742411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500" y="5542261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" y="5542261"/>
            <a:ext cx="25400" cy="1212850"/>
          </a:xfrm>
          <a:prstGeom prst="rect">
            <a:avLst/>
          </a:prstGeom>
          <a:solidFill>
            <a:srgbClr val="1B7F9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49521" y="5542261"/>
            <a:ext cx="12700" cy="121285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30" name="Text 28"/>
          <p:cNvSpPr/>
          <p:nvPr/>
        </p:nvSpPr>
        <p:spPr>
          <a:xfrm>
            <a:off x="1225550" y="5789911"/>
            <a:ext cx="2615883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unit budget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3756025" y="5745460"/>
            <a:ext cx="2119620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719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p50 ≤ 1 ms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1225550" y="6247111"/>
            <a:ext cx="98739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· Stage 1 unit measurement ≠ product latency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" y="6945610"/>
            <a:ext cx="9509721" cy="7747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52500" y="770761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35" name="Shape 33"/>
          <p:cNvSpPr/>
          <p:nvPr/>
        </p:nvSpPr>
        <p:spPr>
          <a:xfrm>
            <a:off x="952500" y="694561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36" name="Shape 34"/>
          <p:cNvSpPr/>
          <p:nvPr/>
        </p:nvSpPr>
        <p:spPr>
          <a:xfrm>
            <a:off x="952500" y="6945610"/>
            <a:ext cx="25400" cy="774700"/>
          </a:xfrm>
          <a:prstGeom prst="rect">
            <a:avLst/>
          </a:prstGeom>
          <a:solidFill>
            <a:srgbClr val="1B7F9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49521" y="6945610"/>
            <a:ext cx="12700" cy="774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38" name="Text 36"/>
          <p:cNvSpPr/>
          <p:nvPr/>
        </p:nvSpPr>
        <p:spPr>
          <a:xfrm>
            <a:off x="1225550" y="7148810"/>
            <a:ext cx="926161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Reference-client / e2e wiring exists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52500" y="7910810"/>
            <a:ext cx="9509721" cy="7747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952500" y="867281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41" name="Shape 39"/>
          <p:cNvSpPr/>
          <p:nvPr/>
        </p:nvSpPr>
        <p:spPr>
          <a:xfrm>
            <a:off x="952500" y="7910810"/>
            <a:ext cx="9509721" cy="12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42" name="Shape 40"/>
          <p:cNvSpPr/>
          <p:nvPr/>
        </p:nvSpPr>
        <p:spPr>
          <a:xfrm>
            <a:off x="952500" y="7910810"/>
            <a:ext cx="25400" cy="774700"/>
          </a:xfrm>
          <a:prstGeom prst="rect">
            <a:avLst/>
          </a:prstGeom>
          <a:solidFill>
            <a:srgbClr val="1B7F92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49521" y="7910810"/>
            <a:ext cx="12700" cy="774700"/>
          </a:xfrm>
          <a:prstGeom prst="rect">
            <a:avLst/>
          </a:prstGeom>
          <a:solidFill>
            <a:srgbClr val="D7D8D3"/>
          </a:solidFill>
          <a:ln/>
        </p:spPr>
      </p:sp>
      <p:sp>
        <p:nvSpPr>
          <p:cNvPr id="44" name="Text 42"/>
          <p:cNvSpPr/>
          <p:nvPr/>
        </p:nvSpPr>
        <p:spPr>
          <a:xfrm>
            <a:off x="1225550" y="8114010"/>
            <a:ext cx="9261612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vs Target gaps documented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0995621" y="2011660"/>
            <a:ext cx="6339880" cy="3990975"/>
          </a:xfrm>
          <a:prstGeom prst="roundRect">
            <a:avLst>
              <a:gd name="adj" fmla="val 1432"/>
            </a:avLst>
          </a:prstGeom>
          <a:ln w="12700">
            <a:solidFill>
              <a:srgbClr val="B9BAB5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11332171" y="2329160"/>
            <a:ext cx="623345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8A8D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measured yet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1332171" y="2868910"/>
            <a:ext cx="623345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нельзя заявлять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11332171" y="3408660"/>
            <a:ext cx="62334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 · FPR · FNR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1332171" y="3894435"/>
            <a:ext cx="62334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· Friction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1332171" y="4380210"/>
            <a:ext cx="62334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Full-system latency · Cost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11332171" y="4865985"/>
            <a:ext cx="62334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benchmark results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11332171" y="5351761"/>
            <a:ext cx="62334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6D7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Cross-harness performance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proven next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9677400"/>
            <a:ext cx="4677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Intermediate / Work in Progress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2174181"/>
            <a:ext cx="136207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validation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2656781"/>
            <a:ext cx="4000500" cy="2209800"/>
          </a:xfrm>
          <a:prstGeom prst="roundRect">
            <a:avLst>
              <a:gd name="adj" fmla="val 2586"/>
            </a:avLst>
          </a:prstGeom>
          <a:solidFill>
            <a:srgbClr val="1B7F92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904431"/>
            <a:ext cx="38138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19200" y="3367980"/>
            <a:ext cx="357111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Установить один real harness adapter.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143500" y="2656781"/>
            <a:ext cx="4000500" cy="2209800"/>
          </a:xfrm>
          <a:prstGeom prst="roundRect">
            <a:avLst>
              <a:gd name="adj" fmla="val 2586"/>
            </a:avLst>
          </a:prstGeom>
          <a:solidFill>
            <a:srgbClr val="1B7F92"/>
          </a:solidFill>
          <a:ln/>
        </p:spPr>
      </p:sp>
      <p:sp>
        <p:nvSpPr>
          <p:cNvPr id="9" name="Text 7"/>
          <p:cNvSpPr/>
          <p:nvPr/>
        </p:nvSpPr>
        <p:spPr>
          <a:xfrm>
            <a:off x="5410200" y="2904431"/>
            <a:ext cx="38138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10200" y="3367980"/>
            <a:ext cx="357111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 enforcement allow / deny / ask и system fail policy.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334500" y="2656781"/>
            <a:ext cx="4000500" cy="2209800"/>
          </a:xfrm>
          <a:prstGeom prst="roundRect">
            <a:avLst>
              <a:gd name="adj" fmla="val 2586"/>
            </a:avLst>
          </a:prstGeom>
          <a:solidFill>
            <a:srgbClr val="1B7F92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2904431"/>
            <a:ext cx="38138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601200" y="3367980"/>
            <a:ext cx="357111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deny → reason/suggest → safe continuation → re-gate.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2500" y="5171381"/>
            <a:ext cx="136207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validation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5653980"/>
            <a:ext cx="4000500" cy="231775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1900" y="5914331"/>
            <a:ext cx="37858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31900" y="6377880"/>
            <a:ext cx="354495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live benchmark и разобрать каждый failure.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143500" y="5653980"/>
            <a:ext cx="4000500" cy="231775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900" y="5914331"/>
            <a:ext cx="37858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422900" y="6377880"/>
            <a:ext cx="354495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Измерить full latency, stage distribution и cost where measurable.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334500" y="5653980"/>
            <a:ext cx="4000500" cy="231775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3900" y="5914331"/>
            <a:ext cx="37858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613900" y="6377880"/>
            <a:ext cx="3544951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минимальную проверку friction на реальных developer sessions.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3716000" y="2011660"/>
            <a:ext cx="3619500" cy="6122690"/>
          </a:xfrm>
          <a:prstGeom prst="roundRect">
            <a:avLst>
              <a:gd name="adj" fmla="val 1579"/>
            </a:avLst>
          </a:prstGeom>
          <a:ln w="19050">
            <a:solidFill>
              <a:srgbClr val="B9BAB5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4077950" y="4377630"/>
            <a:ext cx="31851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CONVERGES 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077950" y="4853880"/>
            <a:ext cx="298246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3000" b="1" spc="-30" kern="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final demo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52500" y="8591550"/>
            <a:ext cx="16383000" cy="933450"/>
          </a:xfrm>
          <a:prstGeom prst="roundRect">
            <a:avLst>
              <a:gd name="adj" fmla="val 6122"/>
            </a:avLst>
          </a:prstGeom>
          <a:solidFill>
            <a:srgbClr val="FFF4DB"/>
          </a:solidFill>
          <a:ln w="12700">
            <a:solidFill>
              <a:srgbClr val="E1B6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9050" y="8870950"/>
            <a:ext cx="16201390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613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current risk: integration, not decision-core implementation.</a:t>
            </a:r>
            <a:endParaRPr lang="en-US" sz="2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4800" b="1" spc="-96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AgentGate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9677400"/>
            <a:ext cx="4677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2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Intermediate / Work in Progress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973560"/>
            <a:ext cx="5283200" cy="6021090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9050" y="2329160"/>
            <a:ext cx="50711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 Иванов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89050" y="2938760"/>
            <a:ext cx="50711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89050" y="3459460"/>
            <a:ext cx="4610100" cy="12700"/>
          </a:xfrm>
          <a:prstGeom prst="rect">
            <a:avLst/>
          </a:prstGeom>
          <a:solidFill>
            <a:srgbClr val="E2E2DE"/>
          </a:solidFill>
          <a:ln/>
        </p:spPr>
      </p:sp>
      <p:sp>
        <p:nvSpPr>
          <p:cNvPr id="8" name="Text 6"/>
          <p:cNvSpPr/>
          <p:nvPr/>
        </p:nvSpPr>
        <p:spPr>
          <a:xfrm>
            <a:off x="1289050" y="366266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service architecture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89050" y="4129385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service implementation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9050" y="459611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deployment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89050" y="5062835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happy path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89050" y="7143750"/>
            <a:ext cx="3771900" cy="495300"/>
          </a:xfrm>
          <a:prstGeom prst="roundRect">
            <a:avLst>
              <a:gd name="adj" fmla="val 5769"/>
            </a:avLst>
          </a:prstGeom>
          <a:solidFill>
            <a:srgbClr val="EAF8FB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7239000"/>
            <a:ext cx="35421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active participation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02400" y="1973560"/>
            <a:ext cx="5283200" cy="6021090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8950" y="2329160"/>
            <a:ext cx="50711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Алексей Балашов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6838950" y="2938760"/>
            <a:ext cx="50711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Engineer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6838950" y="3459460"/>
            <a:ext cx="4610100" cy="12700"/>
          </a:xfrm>
          <a:prstGeom prst="rect">
            <a:avLst/>
          </a:prstGeom>
          <a:solidFill>
            <a:srgbClr val="E2E2DE"/>
          </a:solidFill>
          <a:ln/>
        </p:spPr>
      </p:sp>
      <p:sp>
        <p:nvSpPr>
          <p:cNvPr id="18" name="Text 16"/>
          <p:cNvSpPr/>
          <p:nvPr/>
        </p:nvSpPr>
        <p:spPr>
          <a:xfrm>
            <a:off x="6838950" y="366266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input/output interception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838950" y="4129385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integration + adapters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38950" y="459611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решений AgentGate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838950" y="7143750"/>
            <a:ext cx="3771900" cy="495300"/>
          </a:xfrm>
          <a:prstGeom prst="roundRect">
            <a:avLst>
              <a:gd name="adj" fmla="val 5769"/>
            </a:avLst>
          </a:prstGeom>
          <a:solidFill>
            <a:srgbClr val="EAF8FB"/>
          </a:solidFill>
          <a:ln/>
        </p:spPr>
      </p:sp>
      <p:sp>
        <p:nvSpPr>
          <p:cNvPr id="22" name="Text 20"/>
          <p:cNvSpPr/>
          <p:nvPr/>
        </p:nvSpPr>
        <p:spPr>
          <a:xfrm>
            <a:off x="7010400" y="7239000"/>
            <a:ext cx="35421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active participation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52300" y="1973560"/>
            <a:ext cx="5283200" cy="6021090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D7D8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88851" y="2329160"/>
            <a:ext cx="50711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17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Тимур Полищук</a:t>
            </a:r>
            <a:endParaRPr lang="en-US" sz="2850" dirty="0"/>
          </a:p>
        </p:txBody>
      </p:sp>
      <p:sp>
        <p:nvSpPr>
          <p:cNvPr id="25" name="Text 23"/>
          <p:cNvSpPr/>
          <p:nvPr/>
        </p:nvSpPr>
        <p:spPr>
          <a:xfrm>
            <a:off x="12388851" y="2938760"/>
            <a:ext cx="507111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Product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388851" y="3459460"/>
            <a:ext cx="4610100" cy="12700"/>
          </a:xfrm>
          <a:prstGeom prst="rect">
            <a:avLst/>
          </a:prstGeom>
          <a:solidFill>
            <a:srgbClr val="E2E2DE"/>
          </a:solidFill>
          <a:ln/>
        </p:spPr>
      </p:sp>
      <p:sp>
        <p:nvSpPr>
          <p:cNvPr id="27" name="Text 25"/>
          <p:cNvSpPr/>
          <p:nvPr/>
        </p:nvSpPr>
        <p:spPr>
          <a:xfrm>
            <a:off x="12388851" y="366266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design + implementation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2388851" y="4129385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Product-level target architecture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388851" y="459611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requirements + metrics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388851" y="5062835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Competitive/product research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388851" y="5529560"/>
            <a:ext cx="50711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100" dirty="0">
                <a:solidFill>
                  <a:srgbClr val="3D41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artifacts + presentation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2388851" y="7143750"/>
            <a:ext cx="3771900" cy="495300"/>
          </a:xfrm>
          <a:prstGeom prst="roundRect">
            <a:avLst>
              <a:gd name="adj" fmla="val 5769"/>
            </a:avLst>
          </a:prstGeom>
          <a:solidFill>
            <a:srgbClr val="EAF8FB"/>
          </a:solidFill>
          <a:ln/>
        </p:spPr>
      </p:sp>
      <p:sp>
        <p:nvSpPr>
          <p:cNvPr id="33" name="Text 31"/>
          <p:cNvSpPr/>
          <p:nvPr/>
        </p:nvSpPr>
        <p:spPr>
          <a:xfrm>
            <a:off x="12560301" y="7239000"/>
            <a:ext cx="35421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60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active participation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52500" y="8413750"/>
            <a:ext cx="16383000" cy="1111250"/>
          </a:xfrm>
          <a:prstGeom prst="roundRect">
            <a:avLst>
              <a:gd name="adj" fmla="val 5143"/>
            </a:avLst>
          </a:prstGeom>
          <a:solidFill>
            <a:srgbClr val="17191A"/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8804275"/>
            <a:ext cx="2517219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76C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MILESTONE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4079081" y="8756650"/>
            <a:ext cx="12984569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6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harness → AgentGate → enforced decision → live benchmark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2026-09-04T09:29:38Z</dcterms:created>
  <dcterms:modified xsi:type="dcterms:W3CDTF">2026-09-04T09:29:38Z</dcterms:modified>
</cp:coreProperties>
</file>